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59" r:id="rId4"/>
    <p:sldId id="265" r:id="rId5"/>
    <p:sldId id="266" r:id="rId6"/>
    <p:sldId id="260" r:id="rId7"/>
    <p:sldId id="261" r:id="rId8"/>
    <p:sldId id="262" r:id="rId9"/>
    <p:sldId id="267" r:id="rId10"/>
    <p:sldId id="258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5"/>
    <p:restoredTop sz="94662"/>
  </p:normalViewPr>
  <p:slideViewPr>
    <p:cSldViewPr snapToGrid="0">
      <p:cViewPr varScale="1">
        <p:scale>
          <a:sx n="96" d="100"/>
          <a:sy n="96" d="100"/>
        </p:scale>
        <p:origin x="16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21:53:4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24575,'2'3'0,"0"-1"0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21:53:4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24575,'-5'5'0,"0"0"0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2:47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532 1,'74'0,"11"5,-36-1,2 2,8 2,1 2,-6-1,0 1,6-1,2 1,4-2,3-2,1-2,3 0,9 0,0 0,-8-2,-2 0,-8 0,-1 0,-4 0,-1 0,-6-1,-1 0,42 1,-8 4,-12 4,-12 4,-14 2,-10 0,-10 4,-8 8,-7 9,-6 8,-3 1,-2-7,-1-5,0-6,0-4,4-3,6-5,6-3,4-3,1 0,2 1,1-1,1 0,-2 0,-2-2,-3 0,-3 0,-3 0,2 3,-2-3,6-1,-4-2,0-1,2 0,-96 4,13-5,4 0,-4-2,-32-6,48-1,-1-1,-6-5,-5-1,-18-4,-5-1,-4-3,-2 1,26 6,-1 1,0 1,-1 1,0 2,1 1,-28-2,2 1,6 3,2 0,8 1,2-1,6-1,2-1,1 2,1 0,3-1,0 1,5 1,0 1,-41 0,15 1,14 3,14-5,8-6,10-6,6 0,2 6,5 6,7 7,18 27,30 4,36 28,-21-32,3-3,4 1,3-1,-1-2,1-2,-7-3,-1-2,37 11,-11-9,-13-4,-4-4,-6-1,-6 0,-7-1,-5 4,-6 3,-4 3,-5 7,-6 7,-5 11,-5 11,0 6,-2 8,-3 1,-5-1,-12-12,-16-13,-19-17,-14-13,-11-8,0-5,8-1,10 0,15-3,13 1,10-1,12 2,5-16,9-9,8-5,19 0,23 14,18 6,19 2,-39 7,1 1,5 1,2 0,6-3,2-2,7-1,1-2,1-1,-1 0,-1-1,0 0,-8 4,-2 0,-11 1,-3 0,34-5,-13-5,-5-11,-3-5,-6 0,-11 6,-12 10,-8 4,-6 2,-4 2,-3-1,4 1,-5 2,5-1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3:02.1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134 1,'61'0,"-1"0,8 0,1 0,5 0,3 0,5 0,0 0,-2 0,-2 0,-9 0,-4 0,-11 2,-3 0,35 6,-9 6,-5 7,-2 3,2 3,4-1,1-1,-3-1,-8-1,-10 0,-9 1,-10-1,-7-1,-7 2,-1 0,0 1,3-1,-1-3,3 0,-2 0,-1-1,0 1,-4 0,-1-1,-1 0,-3-2,-3-2,0-4,-4-2,9 3,-6-5,9 3,-5 0,0 1,1 1,1 0,-1-3,1 1,-2-1,0 2,3 0,-1 1,1-1,-1-1,0 1,0-1,0 1,0 1,-1-2,0 2,-5-1,-2 1,-3 3,-37-5,-35-4,-21-9,33-4,-1-2,0-3,1 0,4-1,0 0,-4-1,1-1,-37-11,0 0,42 10,-1 0,-2 0,1 1,-44-10,16 7,22 6,13 6,9-1,6-1,-3-1,4 0,3 1,0 2,6 0,1 0,-3 0,-3 0,-5-1,-3 1,3 1,-2 1,7 1,2 2,4 0,2 0,0 0,-6 0,3 0,-10 0,1 0,-9 2,-6 6,-6 3,0 4,-1 0,3-2,1-1,3-1,0 0,0 1,4-1,4 0,6 0,4 2,4 3,2 2,2 2,6 7,3 4,2 11,2 9,1 3,2 4,12-5,14-1,17-9,19-6,5-6,4-4,-5-3,-11-4,-10-3,-9-7,-7-3,-13-5,-58-2,-1-3,-44-2,25-7,1-6,-1-2,2-1,6 7,8 7,11 4,4 3,2 0,4 4,4 4,3 0,3 0,4-29,4-7,5-16,2-14,3-11,8-17,7-8,5 19,3 16,-6 24,-3 12,-5 6,-2 2,-3-2,-3 1,-2 0,-2 1,2-1,8 0,-2 3,8 3,-2 5,-1 3,6 9,-2-3,4 9,3 0,4 5,4 11,1 7,-4 8,-2 3,-3-5,-4-6,-3-6,-4-5,-2-2,-1-7,0-2,-1-4,6 1,-3-3,3 2,-2-4,5-2,0 1,5-2,-5 0,2-1,4-2,3 0,5 0,2 3,-3-1,-3 1,-7-1,-5 0,-4 2,-1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3:18.87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0,'67'0,"2"0,-8 0,7 0,12 0,1 0,3 0,-4 0,-5 3,-5 5,-7 3,-6 2,-4 3,-8 0,1 1,3 1,2 1,-1 2,-3 4,-7 1,-5 3,0-1,-3-2,5 0,5 0,0 2,1 2,-4-1,-3-4,-1-3,-1-4,0-3,-1-3,-1-1,-5 2,-3-1,-4 1,4-3,0 0,0-2,0 0,-4 1,1-3,-1 1,0 1,1 0,-5 3,-1-1,-4-2,1 4,4-3,3 2,0-2,-2-1,-2 1,-2-2,5 2,-6-5,5 1,0 0,-2-1,8 4,-5-2,3-2,-2-2,-6-2,-57 0,-2 0,-2-1,-5-1,-35-2,-8 1,45 1,1 0,-50 2,7 0,10 0,12 0,1 0,-7-3,-12-3,-4-2,4-2,21 3,21 3,16-1,7 0,-7-3,-10-6,-13-2,-7-3,-2 0,5 0,12 1,11 4,9 1,9 4,3 1,2 2,-6 1,5 0,-6 0,1 2,2 1,-12 2,1 0,-4 0,-2 0,4 0,3 0,2 0,5 0,2 0,0 0,2 0,-5 0,4 0,0 0,1 0,6 21,1-6,5 18,3-10,3 5,3 3,2 4,3-4,-3-3,-4-5,-2-2,-2 2,0 5,0 8,0 6,-1-1,-1 0,-4-5,0-3,2-3,1-1,3-2,0-1,0-2,0-4,0-3,0-2,2-1,19-4,-5-4,22-5,-12-1,5 0,-4 0,-2 0,2 0,-3 0,4 0,2 0,5 0,6 0,5 0,3 0,-4 0,-3 0,-8 0,-8 0,-7 0,-6 0,6 0,-6 0,5 0,5 0,-9 0,10 0,-9 0,-2 0,9 0,-7 0,6 0,-7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3:20.18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1,'65'0,"-13"1,-7 5,-4 6,-8 5,1 2,-11-4,-12-7,-2-4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3:32.41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2329 656,'-69'0,"6"0,16-1,-11-6,-10-7,-22-8,40 9,0-1,1 1,-1 1,-45-15,9 1,6-5,5-2,7-4,6-1,3-1,3 2,6 1,5 3,8 4,1 6,1 3,-1 3,-4 2,1-1,-3 1,-2-1,1 2,2 2,3-1,6 2,2 2,2 4,1 2,-1 3,1 0,0 0,4 0,-4 1,3 1,-3 1,-4-1,3 0,-3-2,3 0,0 0,2 0,4 0,5 3,8 10,5 9,3 4,1 1,1-7,4 4,3 2,3 3,1 4,-4 3,-2 2,0 3,-3 4,0 1,-2 2,-1 1,2-1,1-2,3-1,0 0,0-2,0-5,1-4,-1 0,0 5,-1 7,-2 2,-1-1,-2-5,0-8,3-7,2-3,6-4,4-2,4-3,5-4,7 0,5 3,6 4,0 4,-1-2,4 1,0-4,4 2,-1-1,-2 0,-5 0,-5-3,-7-3,-13-6,-76-27,12 2,-2-1,-1 0,-6-7,9 7,8 7,6 7,2 1,4 1,3 2,-1-3,2 1,2 1,1-2,6-3,5-8,2-9,6-10,2-6,0-4,1-2,2-2,4-6,5-14,4-9,0 1,0 9,-2 19,-2 13,2 13,3 5,7 0,10-2,12-4,11 3,7 6,6 8,-3 5,-3 4,-5 5,-6 12,-5 10,-5 9,-4 1,-3-3,-2-5,-3-7,-1-5,-3-5,-2-1,-1 1,-4-1,1-1,-1-2,0 3,1 0,-3 0,-3-1,-8-4,-49-7,-2-1,-45-5,1 4,38 1,-3 0,-6 0,-2 0,0 0,-1 0,6 0,1 0,-38 0,19 0,17 1,14 5,10 7,6 8,7 3,6 0,5 0,4-1,-1 2,0-1,-1-2,1-2,2 0,2 1,2-1,0 0,0 1,0-1,0 0,0-2,-2-5,-23-5,7-4,-18 1,17 5,1 5,3 3,2 6,1 0,1 0,4-1,1-2,2-1,-3-2,-3-3,-5-6,1-4,-3-10,8-17,0-22,9-19,0-19,0-5,0 2,0 11,0 11,2 5,3 4,3 0,1 7,-1 4,-2 4,0 8,-1 4,-2 3,-1 6,-2 1,0 2,0-1,0-1,0 0,0-2,0-2,0-4,0 1,0 1,0 3,0 0,0-1,0-3,0-3,0-2,0 2,0 3,0 2,0 2,0 0,0 2,0 2,0 1,0-5,0 5,0-4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21:53:40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24575,'3'2'0,"-1"0"0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4:49.19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4241 185,'-71'0,"0"0,-16 1,-4-2,-6 1,-4-1,23-1,-3-1,-1-2,0-1,0-2,0 0,5-1,0-1,2 0,3-1,1 0,3-1,-19-5,3 2,11 2,2 1,8 1,3 3,-39-2,16 7,19 3,14 0,6 0,3 2,-2 5,3 6,2 7,2 8,2 0,2 0,1-2,3-4,4-3,3-5,2-4,1-4,-2-3,-1 2,-2 0,-4 4,-1-1,-2-3,0-2,-5-3,-5 0,-5 0,-3 0,-5 0,-6 0,-4 0,-4 0,0 0,-3 0,4 3,5 3,7 1,10-2,4-3,6-2,6-1,5-3,3-4,0-6,-1-7,0-7,-1 2,1 3,0 8,-2 10,-2 2,-3 3,-3 0,-3 0,-2 0,-5 0,0 0,0 0,3 0,10 0,11-1,10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4:54.49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3252 57,'-62'0,"-11"0,-20 0,27 0,-4 0,-13 0,-3 0,20 0,-2 1,-1 1,-2 2,-1 0,1 1,1 2,1 1,1 0,-1 1,1 1,2-1,-24 4,3-2,13-3,2-3,10-1,3-3,-34 0,17-1,9-5,10-5,4-5,5-6,-1-1,3 0,1 4,3 4,0 6,-7 2,-6 1,-6 2,-1 0,5 0,5 0,7 0,1 0,3 1,0 2,1 0,5 0,3 0,5 0,0 0,-1 0,0 0,-3 1,3 4,4 1,9-2,7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4:58.3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3145 1,'-69'1,"0"0,-15 4,-5 2,16-1,-4 2,-2 1,-10 3,-1 3,-1 0,0 2,0 1,0 1,1-2,1 2,1-2,6 0,2-1,2-1,7-4,3-1,1-2,-20 1,4-2,11-3,3-2,10-2,1 0,-40 0,11-3,17-4,14 0,10 1,8 3,0 3,3 0,0 0,4 0,0 0,1 0,-1 0,-3 0,2 0,2-2,3-1,2 0,-1 1,4 2,1 0,1 0,3 0,-4 0,2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21:55:03.0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3996 110,'-86'0,"10"0,-11-1,5-1,-7-2,-5-1,19 1,-3-2,-4 1,0-1,-1 0,-4 0,-2 0,-1 0,1 0,0 0,3 0,1 0,0 1,1 0,2 0,-10 1,1 0,4 1,3 1,-4 2,4 0,4 0,-18 0,8 0,22 0,6 0,-28 0,15 0,0 0,3 0,0 0,2 0,8 0,6 0,4 0,4 0,0 0,-1 0,1 0,-1 3,0 0,1 1,1 0,2-2,2 3,2 0,0 0,3 1,5 0,10 1,9-3,10-1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72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60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3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1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88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4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38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900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578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67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28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7/31/25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2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90" r:id="rId6"/>
    <p:sldLayoutId id="2147483785" r:id="rId7"/>
    <p:sldLayoutId id="2147483786" r:id="rId8"/>
    <p:sldLayoutId id="2147483787" r:id="rId9"/>
    <p:sldLayoutId id="2147483789" r:id="rId10"/>
    <p:sldLayoutId id="21474837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8.xml"/><Relationship Id="rId18" Type="http://schemas.openxmlformats.org/officeDocument/2006/relationships/image" Target="../media/image18.png"/><Relationship Id="rId3" Type="http://schemas.openxmlformats.org/officeDocument/2006/relationships/customXml" Target="../ink/ink3.xml"/><Relationship Id="rId21" Type="http://schemas.openxmlformats.org/officeDocument/2006/relationships/customXml" Target="../ink/ink12.xml"/><Relationship Id="rId7" Type="http://schemas.openxmlformats.org/officeDocument/2006/relationships/customXml" Target="../ink/ink5.xml"/><Relationship Id="rId12" Type="http://schemas.openxmlformats.org/officeDocument/2006/relationships/image" Target="../media/image15.png"/><Relationship Id="rId17" Type="http://schemas.openxmlformats.org/officeDocument/2006/relationships/customXml" Target="../ink/ink10.xml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customXml" Target="../ink/ink9.xml"/><Relationship Id="rId10" Type="http://schemas.openxmlformats.org/officeDocument/2006/relationships/image" Target="../media/image14.png"/><Relationship Id="rId19" Type="http://schemas.openxmlformats.org/officeDocument/2006/relationships/customXml" Target="../ink/ink11.xml"/><Relationship Id="rId4" Type="http://schemas.openxmlformats.org/officeDocument/2006/relationships/image" Target="../media/image11.png"/><Relationship Id="rId9" Type="http://schemas.openxmlformats.org/officeDocument/2006/relationships/customXml" Target="../ink/ink6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4680660-7E23-4F0F-A679-BF913E9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Rectangle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EB1E3A9B-95B7-CCD3-A556-AE129859284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24556" b="19194"/>
          <a:stretch>
            <a:fillRect/>
          </a:stretch>
        </p:blipFill>
        <p:spPr>
          <a:xfrm>
            <a:off x="0" y="-8878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3CF57-FD7F-6085-1307-A44991DE2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64" y="583345"/>
            <a:ext cx="11090986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4400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Forecasting waved daily covid-19 death count series with a novel combination of segmented Poisson model and ARIMA models </a:t>
            </a:r>
            <a:br>
              <a:rPr lang="en-US" sz="4400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</a:br>
            <a:endParaRPr lang="en-US" sz="4400" dirty="0">
              <a:solidFill>
                <a:schemeClr val="bg1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C002A-88CB-FDD3-A56C-357AC256D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4751" y="3250619"/>
            <a:ext cx="8578699" cy="1228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Journal of Applied Statistics, 2023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Univers"/>
                <a:ea typeface="+mn-ea"/>
                <a:cs typeface="+mn-cs"/>
              </a:rPr>
              <a:t>Zhang,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Univers"/>
                <a:ea typeface="+mn-ea"/>
                <a:cs typeface="+mn-cs"/>
              </a:rPr>
              <a:t>Xiaolei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Univers"/>
                <a:ea typeface="+mn-ea"/>
                <a:cs typeface="+mn-cs"/>
              </a:rPr>
              <a:t> &amp; Ma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Univers"/>
                <a:ea typeface="+mn-ea"/>
                <a:cs typeface="+mn-cs"/>
              </a:rPr>
              <a:t>Renjun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  <a:uLnTx/>
              <a:uFillTx/>
              <a:latin typeface="Univers"/>
              <a:ea typeface="+mn-ea"/>
              <a:cs typeface="+mn-cs"/>
            </a:endParaRPr>
          </a:p>
          <a:p>
            <a:endParaRPr lang="en-US" sz="3200" dirty="0">
              <a:solidFill>
                <a:srgbClr val="FFFFFF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60CF26E-BB00-19F3-C031-E9307DDE8E22}"/>
              </a:ext>
            </a:extLst>
          </p:cNvPr>
          <p:cNvSpPr txBox="1">
            <a:spLocks/>
          </p:cNvSpPr>
          <p:nvPr/>
        </p:nvSpPr>
        <p:spPr>
          <a:xfrm>
            <a:off x="1131715" y="5868453"/>
            <a:ext cx="9146972" cy="710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i="1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By Armin Mahdavi 31 July 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03AFFB-73D0-AAA6-0FF3-32A4FBE78507}"/>
              </a:ext>
            </a:extLst>
          </p:cNvPr>
          <p:cNvSpPr txBox="1"/>
          <p:nvPr/>
        </p:nvSpPr>
        <p:spPr>
          <a:xfrm>
            <a:off x="3149508" y="4740221"/>
            <a:ext cx="6236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JOURNAL OF APPLIED STATISTICS</a:t>
            </a:r>
            <a:br>
              <a:rPr lang="en-US" b="1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b="1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2023, VOL. 50, NOS. 11–12, 2561–2574 https://</a:t>
            </a:r>
            <a:r>
              <a:rPr lang="en-US" b="1" dirty="0" err="1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doi.org</a:t>
            </a:r>
            <a:r>
              <a:rPr lang="en-US" b="1" dirty="0">
                <a:solidFill>
                  <a:schemeClr val="bg1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/10.1080/02664763.2021.1976119 </a:t>
            </a:r>
            <a:endParaRPr lang="en-US" dirty="0">
              <a:solidFill>
                <a:schemeClr val="bg1"/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622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19AA-525A-C227-592E-2E4E32E9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CE93-98C9-2BF8-0BE4-EC3769257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Article’s key focus was 2020 COVID-19 deaths for USA and Canada</a:t>
            </a:r>
          </a:p>
          <a:p>
            <a:r>
              <a:rPr lang="en-US" dirty="0"/>
              <a:t>Proposes to employ two different models, for various reasons. </a:t>
            </a:r>
          </a:p>
          <a:p>
            <a:r>
              <a:rPr lang="en-US" dirty="0"/>
              <a:t>Segmented Poisson model, to “capture mean structures of data in waves” and to respect count aspect of data.</a:t>
            </a:r>
          </a:p>
          <a:p>
            <a:r>
              <a:rPr lang="en-US" dirty="0"/>
              <a:t>And, ARIMA model, commonly used for infectious diseases </a:t>
            </a:r>
          </a:p>
          <a:p>
            <a:r>
              <a:rPr lang="en-US" dirty="0"/>
              <a:t>Proposes combining both model types in two-stage approach</a:t>
            </a:r>
          </a:p>
        </p:txBody>
      </p:sp>
    </p:spTree>
    <p:extLst>
      <p:ext uri="{BB962C8B-B14F-4D97-AF65-F5344CB8AC3E}">
        <p14:creationId xmlns:p14="http://schemas.microsoft.com/office/powerpoint/2010/main" val="314732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DD4E-7232-8A9E-03B1-B877ECE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Collection, Key Features</a:t>
            </a:r>
          </a:p>
        </p:txBody>
      </p:sp>
      <p:pic>
        <p:nvPicPr>
          <p:cNvPr id="9" name="Content Placeholder 8" descr="A close-up of a document&#10;&#10;AI-generated content may be incorrect.">
            <a:extLst>
              <a:ext uri="{FF2B5EF4-FFF2-40B4-BE49-F238E27FC236}">
                <a16:creationId xmlns:a16="http://schemas.microsoft.com/office/drawing/2014/main" id="{96CEBD67-F53E-7E4B-79CF-C40B3AACE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278" y="2851321"/>
            <a:ext cx="8704604" cy="1826696"/>
          </a:xfr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8513353-4C1F-A057-BC35-F7B8D1A3D68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1353800" cy="3925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will need to consider key policy and govt intervention dates</a:t>
            </a:r>
          </a:p>
        </p:txBody>
      </p:sp>
    </p:spTree>
    <p:extLst>
      <p:ext uri="{BB962C8B-B14F-4D97-AF65-F5344CB8AC3E}">
        <p14:creationId xmlns:p14="http://schemas.microsoft.com/office/powerpoint/2010/main" val="405473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2E66-16B0-C535-3909-CB733055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418B-AD48-A868-EC9B-4B70DBD7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Data Collection, Key Features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DB181CD-FB50-F114-3B8F-2C73706D388F}"/>
              </a:ext>
            </a:extLst>
          </p:cNvPr>
          <p:cNvSpPr txBox="1">
            <a:spLocks/>
          </p:cNvSpPr>
          <p:nvPr/>
        </p:nvSpPr>
        <p:spPr>
          <a:xfrm>
            <a:off x="838200" y="1046991"/>
            <a:ext cx="11353800" cy="3925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Cyclical seasonal nature of data for the year -&gt; time series</a:t>
            </a:r>
          </a:p>
          <a:p>
            <a:r>
              <a:rPr lang="en-US" dirty="0"/>
              <a:t>Unequal wavelengths of the data, time-varying variances</a:t>
            </a:r>
          </a:p>
          <a:p>
            <a:r>
              <a:rPr lang="en-US" dirty="0"/>
              <a:t>Typical regression modeling for this global mean structure unlikely to fit appropriately.</a:t>
            </a:r>
          </a:p>
        </p:txBody>
      </p:sp>
      <p:pic>
        <p:nvPicPr>
          <p:cNvPr id="6" name="Content Placeholder 5" descr="A graph of a body&#10;&#10;AI-generated content may be incorrect.">
            <a:extLst>
              <a:ext uri="{FF2B5EF4-FFF2-40B4-BE49-F238E27FC236}">
                <a16:creationId xmlns:a16="http://schemas.microsoft.com/office/drawing/2014/main" id="{9F6E8165-7D73-E512-E432-7F277BE2E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955" y="3009900"/>
            <a:ext cx="7975600" cy="3848100"/>
          </a:xfrm>
        </p:spPr>
      </p:pic>
    </p:spTree>
    <p:extLst>
      <p:ext uri="{BB962C8B-B14F-4D97-AF65-F5344CB8AC3E}">
        <p14:creationId xmlns:p14="http://schemas.microsoft.com/office/powerpoint/2010/main" val="402839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23E3D-A253-9C2F-27A2-6CA23208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F94D-189E-A2FD-B4C1-E32FFE1A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Collection, Key Features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5323ADD-A6A9-2DCE-23AC-6635016F2091}"/>
              </a:ext>
            </a:extLst>
          </p:cNvPr>
          <p:cNvSpPr txBox="1">
            <a:spLocks/>
          </p:cNvSpPr>
          <p:nvPr/>
        </p:nvSpPr>
        <p:spPr>
          <a:xfrm>
            <a:off x="838200" y="1466091"/>
            <a:ext cx="11353800" cy="3925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Very skewed data</a:t>
            </a:r>
          </a:p>
          <a:p>
            <a:r>
              <a:rPr lang="en-US" dirty="0"/>
              <a:t>Some zero counts + High proportion of low counts</a:t>
            </a:r>
          </a:p>
          <a:p>
            <a:r>
              <a:rPr lang="en-US" dirty="0"/>
              <a:t>Methods that assume approximate normality would not be appropriate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C97D54-ECA3-8CB4-BA8E-B1E6BFEF3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565939" y="3009900"/>
            <a:ext cx="7975600" cy="38481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02BFF8-3E7D-BA50-9955-4CB09288341E}"/>
                  </a:ext>
                </a:extLst>
              </p14:cNvPr>
              <p14:cNvContentPartPr/>
              <p14:nvPr/>
            </p14:nvContentPartPr>
            <p14:xfrm>
              <a:off x="3348704" y="476609"/>
              <a:ext cx="2160" cy="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02BFF8-3E7D-BA50-9955-4CB0928834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2584" y="470489"/>
                <a:ext cx="144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C76D85-1DDB-9EB7-49A7-54E5DC7B6CF5}"/>
                  </a:ext>
                </a:extLst>
              </p14:cNvPr>
              <p14:cNvContentPartPr/>
              <p14:nvPr/>
            </p14:nvContentPartPr>
            <p14:xfrm>
              <a:off x="3292904" y="556169"/>
              <a:ext cx="3960" cy="3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C76D85-1DDB-9EB7-49A7-54E5DC7B6C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6784" y="550049"/>
                <a:ext cx="16200" cy="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766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C19D-3815-E49D-661A-BD2C07A5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F4D3-A2D0-DB8D-9666-42CEE7FA9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resolve the three key features?</a:t>
            </a:r>
          </a:p>
          <a:p>
            <a:r>
              <a:rPr lang="en-US" dirty="0"/>
              <a:t>Segment the data based on those important policy dates, then focus on each chunk of data.</a:t>
            </a:r>
          </a:p>
          <a:p>
            <a:r>
              <a:rPr lang="en-US" dirty="0"/>
              <a:t>Apply Poisson regression to detrend the data by removing overall mean structure/trend</a:t>
            </a:r>
          </a:p>
          <a:p>
            <a:pPr lvl="1"/>
            <a:r>
              <a:rPr lang="en-US" dirty="0"/>
              <a:t>Captures piecewise trends in data</a:t>
            </a:r>
          </a:p>
          <a:p>
            <a:r>
              <a:rPr lang="en-US" dirty="0"/>
              <a:t>Detrended data’s raw residuals can then be used and modeled by ARIMA</a:t>
            </a:r>
          </a:p>
        </p:txBody>
      </p:sp>
    </p:spTree>
    <p:extLst>
      <p:ext uri="{BB962C8B-B14F-4D97-AF65-F5344CB8AC3E}">
        <p14:creationId xmlns:p14="http://schemas.microsoft.com/office/powerpoint/2010/main" val="123780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8B40-067B-FBB2-296A-D0470F2B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831"/>
            <a:ext cx="10515600" cy="1325563"/>
          </a:xfrm>
        </p:spPr>
        <p:txBody>
          <a:bodyPr/>
          <a:lstStyle/>
          <a:p>
            <a:r>
              <a:rPr lang="en-US" dirty="0"/>
              <a:t>Segmented Poisson Model 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7C3FD11-A6C8-6140-F644-ACB3DDEAF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627" y="4062848"/>
            <a:ext cx="9968746" cy="2638321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208F37-8123-5A47-6FED-1C4FA98D3880}"/>
              </a:ext>
            </a:extLst>
          </p:cNvPr>
          <p:cNvSpPr txBox="1">
            <a:spLocks/>
          </p:cNvSpPr>
          <p:nvPr/>
        </p:nvSpPr>
        <p:spPr>
          <a:xfrm>
            <a:off x="838200" y="2851218"/>
            <a:ext cx="10515600" cy="1046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Tau1 = 1 week or 7 days after starting data of major government intervention.</a:t>
            </a:r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DA7495D-4662-F73B-A6F0-A339BE10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916" y="1361117"/>
            <a:ext cx="6900241" cy="10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2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64BD-4658-23BF-7052-F1173BB3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60FA-14DF-73C5-1914-F6F4555D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ARIMA modeling assumes stationarity, key assumption</a:t>
            </a:r>
          </a:p>
          <a:p>
            <a:pPr lvl="1"/>
            <a:r>
              <a:rPr lang="en-US" dirty="0"/>
              <a:t> (mean and variance shouldn’t change over time)</a:t>
            </a:r>
          </a:p>
        </p:txBody>
      </p:sp>
      <p:pic>
        <p:nvPicPr>
          <p:cNvPr id="5" name="Picture 4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8ED45CEB-CF0A-FB7A-5026-F1DC4369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435" y="3258897"/>
            <a:ext cx="77216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3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EE77-AFCD-700C-4C39-0F12F3AE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B002-8C25-28AA-1E67-F6AF66CB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Model</a:t>
            </a:r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310F53A5-6E3A-2692-9EF0-9C8A1E7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909" y="1921564"/>
            <a:ext cx="8111615" cy="36443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5BED07-9D42-9099-808A-0BBA15363C19}"/>
                  </a:ext>
                </a:extLst>
              </p14:cNvPr>
              <p14:cNvContentPartPr/>
              <p14:nvPr/>
            </p14:nvContentPartPr>
            <p14:xfrm>
              <a:off x="3937664" y="2557769"/>
              <a:ext cx="1029600" cy="492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5BED07-9D42-9099-808A-0BBA15363C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3664" y="2450129"/>
                <a:ext cx="113724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AA5429-BE5B-308D-CDA1-FD57DD514F77}"/>
                  </a:ext>
                </a:extLst>
              </p14:cNvPr>
              <p14:cNvContentPartPr/>
              <p14:nvPr/>
            </p14:nvContentPartPr>
            <p14:xfrm>
              <a:off x="5277944" y="2530049"/>
              <a:ext cx="948600" cy="493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AA5429-BE5B-308D-CDA1-FD57DD514F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3944" y="2422409"/>
                <a:ext cx="105624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A31D8F-DCDA-DE7F-0D97-28438B1BA478}"/>
                  </a:ext>
                </a:extLst>
              </p14:cNvPr>
              <p14:cNvContentPartPr/>
              <p14:nvPr/>
            </p14:nvContentPartPr>
            <p14:xfrm>
              <a:off x="4718144" y="3429329"/>
              <a:ext cx="842760" cy="473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A31D8F-DCDA-DE7F-0D97-28438B1BA4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64144" y="3321329"/>
                <a:ext cx="950400" cy="6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E06FB13-3239-0712-F493-C95B1A01E7F0}"/>
                  </a:ext>
                </a:extLst>
              </p14:cNvPr>
              <p14:cNvContentPartPr/>
              <p14:nvPr/>
            </p14:nvContentPartPr>
            <p14:xfrm>
              <a:off x="4860704" y="3779969"/>
              <a:ext cx="113040" cy="30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E06FB13-3239-0712-F493-C95B1A01E7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6704" y="3672329"/>
                <a:ext cx="2206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3AB3AB-B91F-4F22-BBCC-FD6D17E6433A}"/>
                  </a:ext>
                </a:extLst>
              </p14:cNvPr>
              <p14:cNvContentPartPr/>
              <p14:nvPr/>
            </p14:nvContentPartPr>
            <p14:xfrm>
              <a:off x="5905064" y="3448409"/>
              <a:ext cx="838800" cy="531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3AB3AB-B91F-4F22-BBCC-FD6D17E643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51064" y="3340409"/>
                <a:ext cx="946440" cy="74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0FCDEB6-E11B-0EAA-5830-4CDE58021C7A}"/>
                  </a:ext>
                </a:extLst>
              </p14:cNvPr>
              <p14:cNvContentPartPr/>
              <p14:nvPr/>
            </p14:nvContentPartPr>
            <p14:xfrm>
              <a:off x="2896904" y="4687169"/>
              <a:ext cx="216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0FCDEB6-E11B-0EAA-5830-4CDE58021C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90784" y="4681049"/>
                <a:ext cx="14400" cy="14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FB9D243-7154-93D6-2230-B85FAD50A8B2}"/>
              </a:ext>
            </a:extLst>
          </p:cNvPr>
          <p:cNvSpPr txBox="1"/>
          <p:nvPr/>
        </p:nvSpPr>
        <p:spPr>
          <a:xfrm>
            <a:off x="3710609" y="2014330"/>
            <a:ext cx="15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Regular 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93637-A143-2B61-FB93-60610156CC2B}"/>
              </a:ext>
            </a:extLst>
          </p:cNvPr>
          <p:cNvSpPr txBox="1"/>
          <p:nvPr/>
        </p:nvSpPr>
        <p:spPr>
          <a:xfrm>
            <a:off x="5215862" y="1942106"/>
            <a:ext cx="15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Seasonal 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12E765-B118-C988-B1D5-1A848B0B1630}"/>
              </a:ext>
            </a:extLst>
          </p:cNvPr>
          <p:cNvSpPr txBox="1"/>
          <p:nvPr/>
        </p:nvSpPr>
        <p:spPr>
          <a:xfrm>
            <a:off x="2885129" y="3807392"/>
            <a:ext cx="156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Regular 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E9F651-E6CF-4FFA-8550-F16DB1C47E7B}"/>
              </a:ext>
            </a:extLst>
          </p:cNvPr>
          <p:cNvSpPr txBox="1"/>
          <p:nvPr/>
        </p:nvSpPr>
        <p:spPr>
          <a:xfrm>
            <a:off x="9186537" y="2681277"/>
            <a:ext cx="188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Seasonal MA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344A18-D0AC-8D94-AC3C-B34AC8D13055}"/>
                  </a:ext>
                </a:extLst>
              </p14:cNvPr>
              <p14:cNvContentPartPr/>
              <p14:nvPr/>
            </p14:nvContentPartPr>
            <p14:xfrm>
              <a:off x="9278984" y="2796809"/>
              <a:ext cx="1526760" cy="102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344A18-D0AC-8D94-AC3C-B34AC8D130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25344" y="2688809"/>
                <a:ext cx="16344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8DE2E0F-3DAB-48A5-DCF2-A474039003E2}"/>
                  </a:ext>
                </a:extLst>
              </p14:cNvPr>
              <p14:cNvContentPartPr/>
              <p14:nvPr/>
            </p14:nvContentPartPr>
            <p14:xfrm>
              <a:off x="3032984" y="4009649"/>
              <a:ext cx="1171080" cy="60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8DE2E0F-3DAB-48A5-DCF2-A474039003E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78984" y="3902009"/>
                <a:ext cx="12787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A02C30-94F9-50E9-FD69-B48410E4FFB0}"/>
                  </a:ext>
                </a:extLst>
              </p14:cNvPr>
              <p14:cNvContentPartPr/>
              <p14:nvPr/>
            </p14:nvContentPartPr>
            <p14:xfrm>
              <a:off x="3881864" y="2122529"/>
              <a:ext cx="1132200" cy="103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A02C30-94F9-50E9-FD69-B48410E4FFB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28224" y="2014889"/>
                <a:ext cx="12398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331BC5B-0800-164E-2F95-8BCD95D18218}"/>
                  </a:ext>
                </a:extLst>
              </p14:cNvPr>
              <p14:cNvContentPartPr/>
              <p14:nvPr/>
            </p14:nvContentPartPr>
            <p14:xfrm>
              <a:off x="5246624" y="2073569"/>
              <a:ext cx="1438920" cy="39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331BC5B-0800-164E-2F95-8BCD95D1821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92624" y="1965929"/>
                <a:ext cx="1546560" cy="25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32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EDBC-2FDE-879B-E605-A121A92F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7209" cy="1325563"/>
          </a:xfrm>
        </p:spPr>
        <p:txBody>
          <a:bodyPr/>
          <a:lstStyle/>
          <a:p>
            <a:r>
              <a:rPr lang="en-US" dirty="0"/>
              <a:t>Limitations and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9FEE-710A-F766-6077-254B4E4F5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Must manually segment data based on segmentation points in order to set it up for modeling. </a:t>
            </a:r>
          </a:p>
          <a:p>
            <a:pPr lvl="1"/>
            <a:r>
              <a:rPr lang="en-US" dirty="0"/>
              <a:t>Policy dates, like in Table 1</a:t>
            </a:r>
          </a:p>
          <a:p>
            <a:r>
              <a:rPr lang="en-US" dirty="0"/>
              <a:t>Requires stationarity and approximate symmetry for ARIMA</a:t>
            </a:r>
          </a:p>
          <a:p>
            <a:r>
              <a:rPr lang="en-US" dirty="0"/>
              <a:t>Segmented Poisson modeling needs a specific function form, the power-exponential trend</a:t>
            </a:r>
          </a:p>
          <a:p>
            <a:r>
              <a:rPr lang="en-US" dirty="0"/>
              <a:t>Won’t adapt to new structural changes, govt interventions</a:t>
            </a:r>
            <a:r>
              <a:rPr lang="en-US"/>
              <a:t>, new COVID waves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624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2BAC-4B98-6460-A23C-D85A0B94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B367-5306-91A2-370A-A09899600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segmentation from manual to automation</a:t>
            </a:r>
          </a:p>
          <a:p>
            <a:r>
              <a:rPr lang="en-US" dirty="0"/>
              <a:t>This two-stage approach can be adapted to ”model and forecast development of other infectious diseases as well.”</a:t>
            </a:r>
          </a:p>
          <a:p>
            <a:r>
              <a:rPr lang="en-US" dirty="0"/>
              <a:t>Their novel approach captured wave-based COVID-19 daily death data with good forecasting power, by their own account</a:t>
            </a:r>
          </a:p>
        </p:txBody>
      </p:sp>
    </p:spTree>
    <p:extLst>
      <p:ext uri="{BB962C8B-B14F-4D97-AF65-F5344CB8AC3E}">
        <p14:creationId xmlns:p14="http://schemas.microsoft.com/office/powerpoint/2010/main" val="26142692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Custom 6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411</Words>
  <Application>Microsoft Macintosh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Univers</vt:lpstr>
      <vt:lpstr>GradientVTI</vt:lpstr>
      <vt:lpstr>Forecasting waved daily covid-19 death count series with a novel combination of segmented Poisson model and ARIMA models  </vt:lpstr>
      <vt:lpstr>Introduction</vt:lpstr>
      <vt:lpstr>Data Collection, Key Features</vt:lpstr>
      <vt:lpstr>Data Collection, Key Features</vt:lpstr>
      <vt:lpstr>Data Collection, Key Features</vt:lpstr>
      <vt:lpstr>Statistical Methods</vt:lpstr>
      <vt:lpstr>Segmented Poisson Model </vt:lpstr>
      <vt:lpstr>ARIMA Model</vt:lpstr>
      <vt:lpstr>ARIMA Model</vt:lpstr>
      <vt:lpstr>Limitations and Considerations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Mahdavi, Armin</dc:creator>
  <cp:lastModifiedBy>Mahdavi, Armin</cp:lastModifiedBy>
  <cp:revision>20</cp:revision>
  <dcterms:created xsi:type="dcterms:W3CDTF">2025-07-31T20:19:43Z</dcterms:created>
  <dcterms:modified xsi:type="dcterms:W3CDTF">2025-07-31T22:00:32Z</dcterms:modified>
</cp:coreProperties>
</file>